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928"/>
    <p:restoredTop sz="94610"/>
  </p:normalViewPr>
  <p:slideViewPr>
    <p:cSldViewPr snapToGrid="0" snapToObjects="1">
      <p:cViewPr>
        <p:scale>
          <a:sx n="144" d="100"/>
          <a:sy n="144" d="100"/>
        </p:scale>
        <p:origin x="1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Attendance_Monthly!$B$2</c:f>
              <c:strCache>
                <c:ptCount val="1"/>
                <c:pt idx="0">
                  <c:v>Fall 2025</c:v>
                </c:pt>
              </c:strCache>
            </c:strRef>
          </c:tx>
          <c:spPr>
            <a:solidFill>
              <a:srgbClr val="1A473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Attendance_Monthly!$A$3:$A$11</c:f>
              <c:strCache>
                <c:ptCount val="9"/>
                <c:pt idx="0">
                  <c:v>Aug '25</c:v>
                </c:pt>
                <c:pt idx="1">
                  <c:v>Sep '25</c:v>
                </c:pt>
                <c:pt idx="2">
                  <c:v>Oct '25</c:v>
                </c:pt>
                <c:pt idx="3">
                  <c:v>Nov '25</c:v>
                </c:pt>
                <c:pt idx="4">
                  <c:v>Dec '25</c:v>
                </c:pt>
                <c:pt idx="5">
                  <c:v>Jan '26</c:v>
                </c:pt>
                <c:pt idx="6">
                  <c:v>Feb '26</c:v>
                </c:pt>
                <c:pt idx="7">
                  <c:v>Mar '26</c:v>
                </c:pt>
                <c:pt idx="8">
                  <c:v>Apr '26</c:v>
                </c:pt>
              </c:strCache>
            </c:strRef>
          </c:cat>
          <c:val>
            <c:numRef>
              <c:f>Attendance_Monthly!$B$3:$B$11</c:f>
              <c:numCache>
                <c:formatCode>General</c:formatCode>
                <c:ptCount val="9"/>
                <c:pt idx="0">
                  <c:v>26</c:v>
                </c:pt>
                <c:pt idx="1">
                  <c:v>53</c:v>
                </c:pt>
                <c:pt idx="2">
                  <c:v>73</c:v>
                </c:pt>
                <c:pt idx="3">
                  <c:v>62</c:v>
                </c:pt>
                <c:pt idx="4">
                  <c:v>35</c:v>
                </c:pt>
              </c:numCache>
            </c:numRef>
          </c:val>
        </c:ser>
        <c:ser>
          <c:idx val="1"/>
          <c:order val="1"/>
          <c:tx>
            <c:strRef>
              <c:f>Attendance_Monthly!$C$2</c:f>
              <c:strCache>
                <c:ptCount val="1"/>
                <c:pt idx="0">
                  <c:v>Spring 2026</c:v>
                </c:pt>
              </c:strCache>
            </c:strRef>
          </c:tx>
          <c:spPr>
            <a:solidFill>
              <a:srgbClr val="F5B8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Attendance_Monthly!$A$3:$A$11</c:f>
              <c:strCache>
                <c:ptCount val="9"/>
                <c:pt idx="0">
                  <c:v>Aug '25</c:v>
                </c:pt>
                <c:pt idx="1">
                  <c:v>Sep '25</c:v>
                </c:pt>
                <c:pt idx="2">
                  <c:v>Oct '25</c:v>
                </c:pt>
                <c:pt idx="3">
                  <c:v>Nov '25</c:v>
                </c:pt>
                <c:pt idx="4">
                  <c:v>Dec '25</c:v>
                </c:pt>
                <c:pt idx="5">
                  <c:v>Jan '26</c:v>
                </c:pt>
                <c:pt idx="6">
                  <c:v>Feb '26</c:v>
                </c:pt>
                <c:pt idx="7">
                  <c:v>Mar '26</c:v>
                </c:pt>
                <c:pt idx="8">
                  <c:v>Apr '26</c:v>
                </c:pt>
              </c:strCache>
            </c:strRef>
          </c:cat>
          <c:val>
            <c:numRef>
              <c:f>Attendance_Monthly!$C$3:$C$11</c:f>
              <c:numCache>
                <c:formatCode>General</c:formatCode>
                <c:ptCount val="9"/>
                <c:pt idx="5">
                  <c:v>19</c:v>
                </c:pt>
                <c:pt idx="6">
                  <c:v>89</c:v>
                </c:pt>
                <c:pt idx="7">
                  <c:v>154</c:v>
                </c:pt>
                <c:pt idx="8">
                  <c:v>127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chemeClr val="tx1"/>
              </a:solidFill>
            </a:defRPr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Attendance_Monthly!$C$2</c:f>
              <c:strCache>
                <c:ptCount val="1"/>
                <c:pt idx="0">
                  <c:v>Spring 2026</c:v>
                </c:pt>
              </c:strCache>
            </c:strRef>
          </c:tx>
          <c:spPr>
            <a:solidFill>
              <a:srgbClr val="F5B8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Attendance_Monthly!$A$7:$A$10</c:f>
              <c:strCache>
                <c:ptCount val="4"/>
                <c:pt idx="0">
                  <c:v>Jan '26</c:v>
                </c:pt>
                <c:pt idx="1">
                  <c:v>Feb '26</c:v>
                </c:pt>
                <c:pt idx="2">
                  <c:v>Mar '26</c:v>
                </c:pt>
                <c:pt idx="3">
                  <c:v>Apr '26</c:v>
                </c:pt>
              </c:strCache>
            </c:strRef>
          </c:cat>
          <c:val>
            <c:numRef>
              <c:f>Attendance_Monthly!$C$7:$C$10</c:f>
              <c:numCache>
                <c:formatCode>General</c:formatCode>
                <c:ptCount val="4"/>
                <c:pt idx="0">
                  <c:v>19</c:v>
                </c:pt>
                <c:pt idx="1">
                  <c:v>89</c:v>
                </c:pt>
                <c:pt idx="2">
                  <c:v>154</c:v>
                </c:pt>
                <c:pt idx="3">
                  <c:v>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70-1240-B446-61C8DF69A7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chemeClr val="tx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1" i="0" u="none" strike="noStrike">
                <a:solidFill>
                  <a:srgbClr val="1A4731"/>
                </a:solidFill>
                <a:latin typeface="Arial"/>
              </a:defRPr>
            </a:pPr>
            <a:r>
              <a:rPr lang="en-US" sz="900" b="1" i="0" u="none" strike="noStrike">
                <a:solidFill>
                  <a:srgbClr val="1A4731"/>
                </a:solidFill>
                <a:latin typeface="Arial"/>
              </a:rPr>
              <a:t>Students by Graduation Year
(AY 2025–2026 Combined)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Grad_Year!$B$2</c:f>
              <c:strCache>
                <c:ptCount val="1"/>
                <c:pt idx="0">
                  <c:v>Grad Year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4731"/>
              </a:solidFill>
              <a:effectLst/>
            </c:spPr>
          </c:dPt>
          <c:dPt>
            <c:idx val="1"/>
            <c:bubble3D val="0"/>
            <c:spPr>
              <a:solidFill>
                <a:srgbClr val="F5B800"/>
              </a:solidFill>
              <a:effectLst/>
            </c:spPr>
          </c:dPt>
          <c:dPt>
            <c:idx val="2"/>
            <c:bubble3D val="0"/>
            <c:spPr>
              <a:solidFill>
                <a:srgbClr val="4A9E6B"/>
              </a:solidFill>
              <a:effectLst/>
            </c:spPr>
          </c:dPt>
          <c:dPt>
            <c:idx val="3"/>
            <c:bubble3D val="0"/>
            <c:spPr>
              <a:solidFill>
                <a:srgbClr val="AAAAAA"/>
              </a:solidFill>
              <a:effectLst/>
            </c:spPr>
          </c:dPt>
          <c:dPt>
            <c:idx val="4"/>
            <c:bubble3D val="0"/>
            <c:spPr>
              <a:solidFill>
                <a:srgbClr val="C8D8C8"/>
              </a:solidFill>
              <a:effectLst/>
            </c:spPr>
          </c:dPt>
          <c:dLbls>
            <c:dLbl>
              <c:idx val="0"/>
              <c:numFmt formatCode="0%" sourceLinked="0"/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txPr>
                <a:bodyPr/>
                <a:lstStyle/>
                <a:p>
                  <a:pPr>
                    <a:defRPr sz="800" b="1">
                      <a:solidFill>
                        <a:srgbClr val="333333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txPr>
                <a:bodyPr/>
                <a:lstStyle/>
                <a:p>
                  <a:pPr>
                    <a:defRPr sz="800" b="1">
                      <a:solidFill>
                        <a:srgbClr val="333333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txPr>
                <a:bodyPr/>
                <a:lstStyle/>
                <a:p>
                  <a:pPr>
                    <a:defRPr sz="800" b="1">
                      <a:solidFill>
                        <a:srgbClr val="333333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Grad_Year!$A$3:$A$7</c:f>
              <c:strCache>
                <c:ptCount val="5"/>
                <c:pt idx="0">
                  <c:v>Class of 2026</c:v>
                </c:pt>
                <c:pt idx="1">
                  <c:v>Class of 2027</c:v>
                </c:pt>
                <c:pt idx="2">
                  <c:v>Class of 2028</c:v>
                </c:pt>
                <c:pt idx="3">
                  <c:v>Transfer</c:v>
                </c:pt>
                <c:pt idx="4">
                  <c:v>Class of 2029+</c:v>
                </c:pt>
              </c:strCache>
            </c:strRef>
          </c:cat>
          <c:val>
            <c:numRef>
              <c:f>Grad_Year!$B$3:$B$7</c:f>
              <c:numCache>
                <c:formatCode>General</c:formatCode>
                <c:ptCount val="5"/>
                <c:pt idx="0">
                  <c:v>360</c:v>
                </c:pt>
                <c:pt idx="1">
                  <c:v>228</c:v>
                </c:pt>
                <c:pt idx="2">
                  <c:v>26</c:v>
                </c:pt>
                <c:pt idx="3">
                  <c:v>15</c:v>
                </c:pt>
                <c:pt idx="4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A4731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A4731"/>
                </a:solidFill>
                <a:latin typeface="Arial"/>
              </a:rPr>
              <a:t>Top 10 States — AY 2025-2026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Top10_States!$B$2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A473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2BE-6A48-935F-AF93FCA792E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2BE-6A48-935F-AF93FCA792E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2BE-6A48-935F-AF93FCA792E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2BE-6A48-935F-AF93FCA792E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2BE-6A48-935F-AF93FCA792E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E2BE-6A48-935F-AF93FCA792E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E2BE-6A48-935F-AF93FCA792E8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E2BE-6A48-935F-AF93FCA792E8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E2BE-6A48-935F-AF93FCA792E8}"/>
              </c:ext>
            </c:extLst>
          </c:dPt>
          <c:dPt>
            <c:idx val="9"/>
            <c:invertIfNegative val="0"/>
            <c:bubble3D val="0"/>
            <c:spPr>
              <a:solidFill>
                <a:srgbClr val="F5B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2BE-6A48-935F-AF93FCA792E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Top10_States!$A$3:$A$12</c:f>
              <c:strCache>
                <c:ptCount val="10"/>
                <c:pt idx="0">
                  <c:v>MO</c:v>
                </c:pt>
                <c:pt idx="1">
                  <c:v>NY</c:v>
                </c:pt>
                <c:pt idx="2">
                  <c:v>MN</c:v>
                </c:pt>
                <c:pt idx="3">
                  <c:v>KS</c:v>
                </c:pt>
                <c:pt idx="4">
                  <c:v>WA</c:v>
                </c:pt>
                <c:pt idx="5">
                  <c:v>AZ</c:v>
                </c:pt>
                <c:pt idx="6">
                  <c:v>IL</c:v>
                </c:pt>
                <c:pt idx="7">
                  <c:v>CO</c:v>
                </c:pt>
                <c:pt idx="8">
                  <c:v>CA</c:v>
                </c:pt>
                <c:pt idx="9">
                  <c:v>TX</c:v>
                </c:pt>
              </c:strCache>
            </c:strRef>
          </c:cat>
          <c:val>
            <c:numRef>
              <c:f>Top10_States!$B$3:$B$12</c:f>
              <c:numCache>
                <c:formatCode>General</c:formatCode>
                <c:ptCount val="10"/>
                <c:pt idx="0">
                  <c:v>7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14</c:v>
                </c:pt>
                <c:pt idx="6">
                  <c:v>15</c:v>
                </c:pt>
                <c:pt idx="7">
                  <c:v>19</c:v>
                </c:pt>
                <c:pt idx="8">
                  <c:v>48</c:v>
                </c:pt>
                <c:pt idx="9">
                  <c:v>414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2BE-6A48-935F-AF93FCA792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289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54734"/>
          </a:solidFill>
          <a:ln w="12700">
            <a:solidFill>
              <a:srgbClr val="1547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F5BD03"/>
          </a:solidFill>
          <a:ln w="12700">
            <a:solidFill>
              <a:srgbClr val="F5BD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3200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HANKAMER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5BD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Session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5BD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Brief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A8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BAYLOR UNIVERSITY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090672" y="256032"/>
            <a:ext cx="1115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90672" y="329184"/>
            <a:ext cx="1115568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090672" y="722742"/>
            <a:ext cx="1115568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79392" y="256032"/>
            <a:ext cx="1115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79392" y="329184"/>
            <a:ext cx="1115568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79392" y="722742"/>
            <a:ext cx="1115568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68112" y="256032"/>
            <a:ext cx="1115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68112" y="329184"/>
            <a:ext cx="1115568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68112" y="722742"/>
            <a:ext cx="1115568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Sessions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56832" y="256032"/>
            <a:ext cx="1115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56832" y="329184"/>
            <a:ext cx="1115568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BD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~1,600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56832" y="722742"/>
            <a:ext cx="1115568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Total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45552" y="256032"/>
            <a:ext cx="111556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45552" y="329184"/>
            <a:ext cx="1115568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47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845552" y="722742"/>
            <a:ext cx="1115568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90672" y="1207008"/>
            <a:ext cx="5897880" cy="0"/>
          </a:xfrm>
          <a:prstGeom prst="line">
            <a:avLst/>
          </a:prstGeom>
          <a:noFill/>
          <a:ln w="9525">
            <a:solidFill>
              <a:srgbClr val="D8E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90672" y="12984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BD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90672" y="1536192"/>
            <a:ext cx="589788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 students attended Hankamer info sessions across AY 2025–2026 — 249 in fall, 389 in spring.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sessions hosted across the year averaged just ~5 students each — a high-touch, personalized experience rarely found at scale.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 outpaced Fall 2025 by 56%, driven by senior application timelines and growing program interest.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brought 1–2 family members, generating an estimated ~1,600 total campus visitors across the year.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states represented across both semesters — visitors came from coast to coast, including VT, OR, NY, and NH.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of 2026 and 2027 together made up 92% of all visitors, with a healthy mix of near-term and imminent prospects.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90672" y="3520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BD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90672" y="3749040"/>
            <a:ext cx="589788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spring capacity — March and April are peak months; additional session dates or a larger venue may be needed.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high-potential out-of-state clusters: Kansas, Colorado, Illinois, Arkansas, and Oklahoma show strong interest.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family — ~40% of visits included both parents; messaging should address ROI, outcomes, and campus culture.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TRENDS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2025–2026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75488"/>
            <a:ext cx="9144000" cy="50292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508218518"/>
              </p:ext>
            </p:extLst>
          </p:nvPr>
        </p:nvGraphicFramePr>
        <p:xfrm>
          <a:off x="109728" y="585216"/>
          <a:ext cx="58521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109728" y="467258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semesters shown. Fall 2025: 249 students (Aug–Dec). Spring 2026: 389 students (Jan–Apr). Total: 638.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6053328" y="60350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YEAR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6053328" y="804672"/>
            <a:ext cx="2971800" cy="0"/>
          </a:xfrm>
          <a:prstGeom prst="line">
            <a:avLst/>
          </a:prstGeom>
          <a:noFill/>
          <a:ln w="19050">
            <a:solidFill>
              <a:srgbClr val="F5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Chart 2"/>
          <p:cNvGraphicFramePr/>
          <p:nvPr/>
        </p:nvGraphicFramePr>
        <p:xfrm>
          <a:off x="6053328" y="820800"/>
          <a:ext cx="29718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Shape 7"/>
          <p:cNvSpPr/>
          <p:nvPr/>
        </p:nvSpPr>
        <p:spPr>
          <a:xfrm>
            <a:off x="6053328" y="3960000"/>
            <a:ext cx="2971800" cy="557784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053328" y="3960000"/>
            <a:ext cx="2971800" cy="5577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of 2026 &amp; 2027 = 92% of students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REACH — AY 2025–2026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States Represented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75488"/>
            <a:ext cx="9144000" cy="50292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unpack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566928"/>
            <a:ext cx="539496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60350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BY REGION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577840" y="804672"/>
            <a:ext cx="3429000" cy="0"/>
          </a:xfrm>
          <a:prstGeom prst="line">
            <a:avLst/>
          </a:prstGeom>
          <a:noFill/>
          <a:ln w="19050">
            <a:solidFill>
              <a:srgbClr val="F5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859536"/>
          <a:ext cx="3429000" cy="19202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/ SW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Midwest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/ Southeast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577840" y="2852928"/>
            <a:ext cx="109728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577840" y="287121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577840" y="34015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Texas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6743700" y="2852928"/>
            <a:ext cx="1097280" cy="9144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743700" y="287121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743700" y="34015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out-of-state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7909560" y="2852928"/>
            <a:ext cx="1097280" cy="9144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909560" y="287121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7909560" y="34015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577840" y="3840480"/>
            <a:ext cx="342900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(#2, 48), CO (19), IL (15), AZ (14), WA (10), KS (9) are top non-TX states.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listed Torreón, Mexico — nascent international reach.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73152" y="4846320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2025–2026 combined. Some records had missing/ambiguous state data. Regional counts sum to 637 of 638 total students; 1 student had an unresolvable state entry.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&amp; FAMILY BREAKDOWN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75488"/>
            <a:ext cx="9144000" cy="50292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6035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STATES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4297680" cy="0"/>
          </a:xfrm>
          <a:prstGeom prst="line">
            <a:avLst/>
          </a:prstGeom>
          <a:noFill/>
          <a:ln w="19050">
            <a:solidFill>
              <a:srgbClr val="F5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137160" y="859536"/>
          <a:ext cx="42976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617720" y="603504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JOINS STUDENTS?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617720" y="804672"/>
            <a:ext cx="4297680" cy="0"/>
          </a:xfrm>
          <a:prstGeom prst="line">
            <a:avLst/>
          </a:prstGeom>
          <a:noFill/>
          <a:ln w="19050">
            <a:solidFill>
              <a:srgbClr val="F5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859536"/>
          <a:ext cx="4297680" cy="210312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Mother (solo)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common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Father (solo)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parents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common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Sibling(s)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Occasional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family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Friends / classmates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alone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Uncommon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617720" y="3017520"/>
            <a:ext cx="4297680" cy="135331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709160" y="3063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ENGAGEMENT INSIGHTS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709160" y="3273552"/>
            <a:ext cx="411480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~1,600 total campus visitors estimated across AY 2025–2026 — nearly 2.5× the student headcount.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visits included both parents, making this as much a family event as a student one.</a:t>
            </a:r>
            <a:endParaRPr lang="en-US" sz="8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siblings (Class of 2028–2029+) are forming early impressions — a long-lead pipeline.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37160" y="44165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estimate based on ~2.5× the student headcount; companion data is self-reported at time of registration. Companion frequency reflects qualitative patterns, not exact counts.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D4EAD8"/>
          </a:solidFill>
          <a:ln w="1270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1440" y="4736592"/>
            <a:ext cx="89611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Hankamer School of Business  ·  Baylor University  ·  Information Session Registration Log, AY 2025–2026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567</Words>
  <Application>Microsoft Macintosh PowerPoint</Application>
  <PresentationFormat>On-screen Show (16:9)</PresentationFormat>
  <Paragraphs>107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Hankamer School of Business — Information Session Attendance Brief AY 2025-2026</dc:title>
  <dc:subject>PptxGenJS Presentation</dc:subject>
  <dc:creator>PptxGenJS</dc:creator>
  <cp:lastModifiedBy>Vanzant, Caleb</cp:lastModifiedBy>
  <cp:revision>2</cp:revision>
  <dcterms:created xsi:type="dcterms:W3CDTF">2026-05-04T19:48:55Z</dcterms:created>
  <dcterms:modified xsi:type="dcterms:W3CDTF">2026-05-04T19:58:54Z</dcterms:modified>
</cp:coreProperties>
</file>